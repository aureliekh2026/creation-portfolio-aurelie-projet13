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7104063" cy="10234613"/>
  <p:embeddedFontLst>
    <p:embeddedFont>
      <p:font typeface="Cambria Math" panose="02040503050406030204" pitchFamily="18" charset="0"/>
      <p:regular r:id="rId15"/>
    </p:embeddedFont>
    <p:embeddedFont>
      <p:font typeface="Montserrat" panose="02000505000000020004" pitchFamily="2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634248-7F7D-467A-9AEF-C8542F4B706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0C257FC-AC2D-42DE-B4CA-ADCFE174608D}">
      <dgm:prSet phldrT="[Texte]" phldr="0"/>
      <dgm:spPr/>
      <dgm:t>
        <a:bodyPr/>
        <a:lstStyle/>
        <a:p>
          <a:r>
            <a:rPr lang="fr-FR" b="1" dirty="0"/>
            <a:t>Les besoins métiers</a:t>
          </a:r>
        </a:p>
      </dgm:t>
    </dgm:pt>
    <dgm:pt modelId="{9EAAD216-49BC-47ED-B5EA-B08E3381AED4}" type="parTrans" cxnId="{F2045B61-70AD-4F02-BBA3-19CE8DD9276C}">
      <dgm:prSet/>
      <dgm:spPr/>
      <dgm:t>
        <a:bodyPr/>
        <a:lstStyle/>
        <a:p>
          <a:endParaRPr lang="fr-FR"/>
        </a:p>
      </dgm:t>
    </dgm:pt>
    <dgm:pt modelId="{49820370-CAA3-4839-B894-C0DE8B17AC33}" type="sibTrans" cxnId="{F2045B61-70AD-4F02-BBA3-19CE8DD9276C}">
      <dgm:prSet/>
      <dgm:spPr/>
      <dgm:t>
        <a:bodyPr/>
        <a:lstStyle/>
        <a:p>
          <a:endParaRPr lang="fr-FR"/>
        </a:p>
      </dgm:t>
    </dgm:pt>
    <dgm:pt modelId="{7EE4E128-74E3-4976-ADC4-34EC4EA36268}">
      <dgm:prSet phldrT="[Texte]"/>
      <dgm:spPr/>
      <dgm:t>
        <a:bodyPr/>
        <a:lstStyle/>
        <a:p>
          <a:pPr>
            <a:buNone/>
          </a:pPr>
          <a:r>
            <a:rPr lang="fr-FR" b="0" dirty="0"/>
            <a:t>Amélioration de la conception des avions</a:t>
          </a:r>
        </a:p>
      </dgm:t>
    </dgm:pt>
    <dgm:pt modelId="{F5665482-E850-4C37-847A-9DBB5D86CCB4}" type="parTrans" cxnId="{CC728D3C-2336-4C4F-A417-E45F4D2157F5}">
      <dgm:prSet/>
      <dgm:spPr/>
      <dgm:t>
        <a:bodyPr/>
        <a:lstStyle/>
        <a:p>
          <a:endParaRPr lang="fr-FR"/>
        </a:p>
      </dgm:t>
    </dgm:pt>
    <dgm:pt modelId="{37E2008A-0CB8-44E6-BB10-DE9E7F291A33}" type="sibTrans" cxnId="{CC728D3C-2336-4C4F-A417-E45F4D2157F5}">
      <dgm:prSet/>
      <dgm:spPr/>
      <dgm:t>
        <a:bodyPr/>
        <a:lstStyle/>
        <a:p>
          <a:endParaRPr lang="fr-FR"/>
        </a:p>
      </dgm:t>
    </dgm:pt>
    <dgm:pt modelId="{267C37BD-E2D5-4BF1-A990-5343823BEAD7}">
      <dgm:prSet phldrT="[Texte]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fr-FR" b="0" dirty="0"/>
            <a:t>Optimisation des performances opérationnelles</a:t>
          </a:r>
        </a:p>
      </dgm:t>
    </dgm:pt>
    <dgm:pt modelId="{8E2C1EA3-8288-4F94-B001-372F3A7D32F6}" type="parTrans" cxnId="{9B151F1D-B1DF-4051-ADEA-6AFC654AA6B3}">
      <dgm:prSet/>
      <dgm:spPr/>
      <dgm:t>
        <a:bodyPr/>
        <a:lstStyle/>
        <a:p>
          <a:endParaRPr lang="fr-FR"/>
        </a:p>
      </dgm:t>
    </dgm:pt>
    <dgm:pt modelId="{C6629E4E-3983-47FF-B7DC-32490C1E55F8}" type="sibTrans" cxnId="{9B151F1D-B1DF-4051-ADEA-6AFC654AA6B3}">
      <dgm:prSet/>
      <dgm:spPr/>
      <dgm:t>
        <a:bodyPr/>
        <a:lstStyle/>
        <a:p>
          <a:endParaRPr lang="fr-FR"/>
        </a:p>
      </dgm:t>
    </dgm:pt>
    <dgm:pt modelId="{A6953038-10D4-4357-B05E-2EE121D6CB7C}">
      <dgm:prSet phldrT="[Texte]"/>
      <dgm:spPr/>
      <dgm:t>
        <a:bodyPr/>
        <a:lstStyle/>
        <a:p>
          <a:pPr>
            <a:buFont typeface="Symbol" panose="05050102010706020507" pitchFamily="18" charset="2"/>
            <a:buChar char=""/>
          </a:pPr>
          <a:r>
            <a:rPr lang="fr-FR" b="0" dirty="0"/>
            <a:t>Prévision et optimisation de la maintenance</a:t>
          </a:r>
        </a:p>
      </dgm:t>
    </dgm:pt>
    <dgm:pt modelId="{0C7845D7-CD77-4B09-A53C-EBBE59EFABD9}" type="parTrans" cxnId="{F58C1D93-C1D9-4124-8AAC-839AFEAA2479}">
      <dgm:prSet/>
      <dgm:spPr/>
      <dgm:t>
        <a:bodyPr/>
        <a:lstStyle/>
        <a:p>
          <a:endParaRPr lang="fr-FR"/>
        </a:p>
      </dgm:t>
    </dgm:pt>
    <dgm:pt modelId="{EAFC5C42-542E-47FF-88BA-7F566E78B243}" type="sibTrans" cxnId="{F58C1D93-C1D9-4124-8AAC-839AFEAA2479}">
      <dgm:prSet/>
      <dgm:spPr/>
      <dgm:t>
        <a:bodyPr/>
        <a:lstStyle/>
        <a:p>
          <a:endParaRPr lang="fr-FR"/>
        </a:p>
      </dgm:t>
    </dgm:pt>
    <dgm:pt modelId="{6A349F35-1AB2-4251-AEA2-B15A13A1A050}">
      <dgm:prSet phldrT="[Texte]"/>
      <dgm:spPr/>
      <dgm:t>
        <a:bodyPr/>
        <a:lstStyle/>
        <a:p>
          <a:pPr>
            <a:buNone/>
          </a:pPr>
          <a:r>
            <a:rPr lang="fr-FR" b="0" dirty="0"/>
            <a:t>Amélioration de l’expérience client et du support</a:t>
          </a:r>
        </a:p>
      </dgm:t>
    </dgm:pt>
    <dgm:pt modelId="{1908FD2C-1F58-49D1-8076-D13F03A5365B}" type="parTrans" cxnId="{7C9AF8E5-5CDD-4137-BA97-E2CC80B556DC}">
      <dgm:prSet/>
      <dgm:spPr/>
      <dgm:t>
        <a:bodyPr/>
        <a:lstStyle/>
        <a:p>
          <a:endParaRPr lang="fr-FR"/>
        </a:p>
      </dgm:t>
    </dgm:pt>
    <dgm:pt modelId="{04B221C2-CDDE-43BF-ACF8-6D009E9D3E04}" type="sibTrans" cxnId="{7C9AF8E5-5CDD-4137-BA97-E2CC80B556DC}">
      <dgm:prSet/>
      <dgm:spPr/>
      <dgm:t>
        <a:bodyPr/>
        <a:lstStyle/>
        <a:p>
          <a:endParaRPr lang="fr-FR"/>
        </a:p>
      </dgm:t>
    </dgm:pt>
    <dgm:pt modelId="{6BC3691F-971B-465C-B5FC-8DD2B973AA32}" type="pres">
      <dgm:prSet presAssocID="{60634248-7F7D-467A-9AEF-C8542F4B706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526E89-E8BB-4F05-8F10-8DECCB223DB9}" type="pres">
      <dgm:prSet presAssocID="{30C257FC-AC2D-42DE-B4CA-ADCFE174608D}" presName="hierRoot1" presStyleCnt="0"/>
      <dgm:spPr/>
    </dgm:pt>
    <dgm:pt modelId="{474BDD37-466A-4C88-B81C-DE5D95E57948}" type="pres">
      <dgm:prSet presAssocID="{30C257FC-AC2D-42DE-B4CA-ADCFE174608D}" presName="composite" presStyleCnt="0"/>
      <dgm:spPr/>
    </dgm:pt>
    <dgm:pt modelId="{6016D665-917A-443C-ACE0-F1535625033A}" type="pres">
      <dgm:prSet presAssocID="{30C257FC-AC2D-42DE-B4CA-ADCFE174608D}" presName="background" presStyleLbl="node0" presStyleIdx="0" presStyleCnt="1"/>
      <dgm:spPr/>
    </dgm:pt>
    <dgm:pt modelId="{1B74D4BE-91CF-43BB-97BB-5F2C50CE7335}" type="pres">
      <dgm:prSet presAssocID="{30C257FC-AC2D-42DE-B4CA-ADCFE174608D}" presName="text" presStyleLbl="fgAcc0" presStyleIdx="0" presStyleCnt="1">
        <dgm:presLayoutVars>
          <dgm:chPref val="3"/>
        </dgm:presLayoutVars>
      </dgm:prSet>
      <dgm:spPr/>
    </dgm:pt>
    <dgm:pt modelId="{65A6FE35-1847-43B7-9CAD-E1CD0D2239FB}" type="pres">
      <dgm:prSet presAssocID="{30C257FC-AC2D-42DE-B4CA-ADCFE174608D}" presName="hierChild2" presStyleCnt="0"/>
      <dgm:spPr/>
    </dgm:pt>
    <dgm:pt modelId="{B63CBC72-8E26-4C80-AA37-BA7CB1364AB5}" type="pres">
      <dgm:prSet presAssocID="{F5665482-E850-4C37-847A-9DBB5D86CCB4}" presName="Name10" presStyleLbl="parChTrans1D2" presStyleIdx="0" presStyleCnt="4"/>
      <dgm:spPr/>
    </dgm:pt>
    <dgm:pt modelId="{2D693336-34F6-4177-9B0D-4985671FEDFF}" type="pres">
      <dgm:prSet presAssocID="{7EE4E128-74E3-4976-ADC4-34EC4EA36268}" presName="hierRoot2" presStyleCnt="0"/>
      <dgm:spPr/>
    </dgm:pt>
    <dgm:pt modelId="{B86E124E-E0DE-4775-9DA5-27A8A750B613}" type="pres">
      <dgm:prSet presAssocID="{7EE4E128-74E3-4976-ADC4-34EC4EA36268}" presName="composite2" presStyleCnt="0"/>
      <dgm:spPr/>
    </dgm:pt>
    <dgm:pt modelId="{05927B22-4C16-464D-9FB5-D51B0B962156}" type="pres">
      <dgm:prSet presAssocID="{7EE4E128-74E3-4976-ADC4-34EC4EA36268}" presName="background2" presStyleLbl="node2" presStyleIdx="0" presStyleCnt="4"/>
      <dgm:spPr/>
    </dgm:pt>
    <dgm:pt modelId="{FC373F1F-D003-4882-AE7C-18207BCF1AA1}" type="pres">
      <dgm:prSet presAssocID="{7EE4E128-74E3-4976-ADC4-34EC4EA36268}" presName="text2" presStyleLbl="fgAcc2" presStyleIdx="0" presStyleCnt="4">
        <dgm:presLayoutVars>
          <dgm:chPref val="3"/>
        </dgm:presLayoutVars>
      </dgm:prSet>
      <dgm:spPr/>
    </dgm:pt>
    <dgm:pt modelId="{D315750F-E888-465A-A577-C6878A1EAAAD}" type="pres">
      <dgm:prSet presAssocID="{7EE4E128-74E3-4976-ADC4-34EC4EA36268}" presName="hierChild3" presStyleCnt="0"/>
      <dgm:spPr/>
    </dgm:pt>
    <dgm:pt modelId="{7F25F2B8-6654-4A20-AA3E-6EC3BB278DFC}" type="pres">
      <dgm:prSet presAssocID="{8E2C1EA3-8288-4F94-B001-372F3A7D32F6}" presName="Name10" presStyleLbl="parChTrans1D2" presStyleIdx="1" presStyleCnt="4"/>
      <dgm:spPr/>
    </dgm:pt>
    <dgm:pt modelId="{0389BC0B-F955-4B35-8D1C-DCCBD7CEADA7}" type="pres">
      <dgm:prSet presAssocID="{267C37BD-E2D5-4BF1-A990-5343823BEAD7}" presName="hierRoot2" presStyleCnt="0"/>
      <dgm:spPr/>
    </dgm:pt>
    <dgm:pt modelId="{D8FD7C7F-FD01-4F5B-BDE4-2482E767449C}" type="pres">
      <dgm:prSet presAssocID="{267C37BD-E2D5-4BF1-A990-5343823BEAD7}" presName="composite2" presStyleCnt="0"/>
      <dgm:spPr/>
    </dgm:pt>
    <dgm:pt modelId="{2236B402-482C-4BB9-B61C-A4116A8FC098}" type="pres">
      <dgm:prSet presAssocID="{267C37BD-E2D5-4BF1-A990-5343823BEAD7}" presName="background2" presStyleLbl="node2" presStyleIdx="1" presStyleCnt="4"/>
      <dgm:spPr/>
    </dgm:pt>
    <dgm:pt modelId="{08C68190-A31C-4531-B563-5CCF2C139390}" type="pres">
      <dgm:prSet presAssocID="{267C37BD-E2D5-4BF1-A990-5343823BEAD7}" presName="text2" presStyleLbl="fgAcc2" presStyleIdx="1" presStyleCnt="4">
        <dgm:presLayoutVars>
          <dgm:chPref val="3"/>
        </dgm:presLayoutVars>
      </dgm:prSet>
      <dgm:spPr/>
    </dgm:pt>
    <dgm:pt modelId="{64A14D01-D2F9-440B-8D84-9DF96749A2D0}" type="pres">
      <dgm:prSet presAssocID="{267C37BD-E2D5-4BF1-A990-5343823BEAD7}" presName="hierChild3" presStyleCnt="0"/>
      <dgm:spPr/>
    </dgm:pt>
    <dgm:pt modelId="{6004F250-CF3D-4863-B020-52DF3A59CA36}" type="pres">
      <dgm:prSet presAssocID="{0C7845D7-CD77-4B09-A53C-EBBE59EFABD9}" presName="Name10" presStyleLbl="parChTrans1D2" presStyleIdx="2" presStyleCnt="4"/>
      <dgm:spPr/>
    </dgm:pt>
    <dgm:pt modelId="{3044071D-8869-4153-A17F-EEE482972C2E}" type="pres">
      <dgm:prSet presAssocID="{A6953038-10D4-4357-B05E-2EE121D6CB7C}" presName="hierRoot2" presStyleCnt="0"/>
      <dgm:spPr/>
    </dgm:pt>
    <dgm:pt modelId="{B48B6423-5CA3-44FD-97D3-C86D7603ADA4}" type="pres">
      <dgm:prSet presAssocID="{A6953038-10D4-4357-B05E-2EE121D6CB7C}" presName="composite2" presStyleCnt="0"/>
      <dgm:spPr/>
    </dgm:pt>
    <dgm:pt modelId="{10E464DE-8453-4028-B5CA-EEE520F129D5}" type="pres">
      <dgm:prSet presAssocID="{A6953038-10D4-4357-B05E-2EE121D6CB7C}" presName="background2" presStyleLbl="node2" presStyleIdx="2" presStyleCnt="4"/>
      <dgm:spPr/>
    </dgm:pt>
    <dgm:pt modelId="{E074A6B9-7454-4E0B-9A56-A4952104A51B}" type="pres">
      <dgm:prSet presAssocID="{A6953038-10D4-4357-B05E-2EE121D6CB7C}" presName="text2" presStyleLbl="fgAcc2" presStyleIdx="2" presStyleCnt="4">
        <dgm:presLayoutVars>
          <dgm:chPref val="3"/>
        </dgm:presLayoutVars>
      </dgm:prSet>
      <dgm:spPr/>
    </dgm:pt>
    <dgm:pt modelId="{FCC91D92-0CC3-4811-AB44-267529D99452}" type="pres">
      <dgm:prSet presAssocID="{A6953038-10D4-4357-B05E-2EE121D6CB7C}" presName="hierChild3" presStyleCnt="0"/>
      <dgm:spPr/>
    </dgm:pt>
    <dgm:pt modelId="{1F996D75-F1F6-4201-8CA9-813D5AF2E81E}" type="pres">
      <dgm:prSet presAssocID="{1908FD2C-1F58-49D1-8076-D13F03A5365B}" presName="Name10" presStyleLbl="parChTrans1D2" presStyleIdx="3" presStyleCnt="4"/>
      <dgm:spPr/>
    </dgm:pt>
    <dgm:pt modelId="{1A646B2B-ED50-4AA4-97D6-ADD2749E9849}" type="pres">
      <dgm:prSet presAssocID="{6A349F35-1AB2-4251-AEA2-B15A13A1A050}" presName="hierRoot2" presStyleCnt="0"/>
      <dgm:spPr/>
    </dgm:pt>
    <dgm:pt modelId="{D1AF03AC-DBE6-41B4-842E-470A5E30819B}" type="pres">
      <dgm:prSet presAssocID="{6A349F35-1AB2-4251-AEA2-B15A13A1A050}" presName="composite2" presStyleCnt="0"/>
      <dgm:spPr/>
    </dgm:pt>
    <dgm:pt modelId="{C4C9046B-B6C9-4B7D-981D-7D5FF6643908}" type="pres">
      <dgm:prSet presAssocID="{6A349F35-1AB2-4251-AEA2-B15A13A1A050}" presName="background2" presStyleLbl="node2" presStyleIdx="3" presStyleCnt="4"/>
      <dgm:spPr/>
    </dgm:pt>
    <dgm:pt modelId="{7178D2F7-2CEA-41F5-AD85-6A4AFD7837BF}" type="pres">
      <dgm:prSet presAssocID="{6A349F35-1AB2-4251-AEA2-B15A13A1A050}" presName="text2" presStyleLbl="fgAcc2" presStyleIdx="3" presStyleCnt="4">
        <dgm:presLayoutVars>
          <dgm:chPref val="3"/>
        </dgm:presLayoutVars>
      </dgm:prSet>
      <dgm:spPr/>
    </dgm:pt>
    <dgm:pt modelId="{C66E5081-907E-44F7-82D2-6A01F5AE15C0}" type="pres">
      <dgm:prSet presAssocID="{6A349F35-1AB2-4251-AEA2-B15A13A1A050}" presName="hierChild3" presStyleCnt="0"/>
      <dgm:spPr/>
    </dgm:pt>
  </dgm:ptLst>
  <dgm:cxnLst>
    <dgm:cxn modelId="{14B84B03-90F1-4191-BF36-7D5C8E6BAAAE}" type="presOf" srcId="{F5665482-E850-4C37-847A-9DBB5D86CCB4}" destId="{B63CBC72-8E26-4C80-AA37-BA7CB1364AB5}" srcOrd="0" destOrd="0" presId="urn:microsoft.com/office/officeart/2005/8/layout/hierarchy1"/>
    <dgm:cxn modelId="{69DE7D03-7327-4AB3-859E-521F4DCCE0C3}" type="presOf" srcId="{6A349F35-1AB2-4251-AEA2-B15A13A1A050}" destId="{7178D2F7-2CEA-41F5-AD85-6A4AFD7837BF}" srcOrd="0" destOrd="0" presId="urn:microsoft.com/office/officeart/2005/8/layout/hierarchy1"/>
    <dgm:cxn modelId="{9DA3AC06-31A7-4CDE-ADDE-842B33B6A77A}" type="presOf" srcId="{30C257FC-AC2D-42DE-B4CA-ADCFE174608D}" destId="{1B74D4BE-91CF-43BB-97BB-5F2C50CE7335}" srcOrd="0" destOrd="0" presId="urn:microsoft.com/office/officeart/2005/8/layout/hierarchy1"/>
    <dgm:cxn modelId="{C438E60F-C24E-4C0F-8085-BDD5ABB484D4}" type="presOf" srcId="{267C37BD-E2D5-4BF1-A990-5343823BEAD7}" destId="{08C68190-A31C-4531-B563-5CCF2C139390}" srcOrd="0" destOrd="0" presId="urn:microsoft.com/office/officeart/2005/8/layout/hierarchy1"/>
    <dgm:cxn modelId="{9B151F1D-B1DF-4051-ADEA-6AFC654AA6B3}" srcId="{30C257FC-AC2D-42DE-B4CA-ADCFE174608D}" destId="{267C37BD-E2D5-4BF1-A990-5343823BEAD7}" srcOrd="1" destOrd="0" parTransId="{8E2C1EA3-8288-4F94-B001-372F3A7D32F6}" sibTransId="{C6629E4E-3983-47FF-B7DC-32490C1E55F8}"/>
    <dgm:cxn modelId="{6ED4353B-E734-4842-8C13-810C97ABDD9B}" type="presOf" srcId="{7EE4E128-74E3-4976-ADC4-34EC4EA36268}" destId="{FC373F1F-D003-4882-AE7C-18207BCF1AA1}" srcOrd="0" destOrd="0" presId="urn:microsoft.com/office/officeart/2005/8/layout/hierarchy1"/>
    <dgm:cxn modelId="{CC728D3C-2336-4C4F-A417-E45F4D2157F5}" srcId="{30C257FC-AC2D-42DE-B4CA-ADCFE174608D}" destId="{7EE4E128-74E3-4976-ADC4-34EC4EA36268}" srcOrd="0" destOrd="0" parTransId="{F5665482-E850-4C37-847A-9DBB5D86CCB4}" sibTransId="{37E2008A-0CB8-44E6-BB10-DE9E7F291A33}"/>
    <dgm:cxn modelId="{F2045B61-70AD-4F02-BBA3-19CE8DD9276C}" srcId="{60634248-7F7D-467A-9AEF-C8542F4B7064}" destId="{30C257FC-AC2D-42DE-B4CA-ADCFE174608D}" srcOrd="0" destOrd="0" parTransId="{9EAAD216-49BC-47ED-B5EA-B08E3381AED4}" sibTransId="{49820370-CAA3-4839-B894-C0DE8B17AC33}"/>
    <dgm:cxn modelId="{905A9061-0786-4358-AE36-2190D5FE3B7A}" type="presOf" srcId="{8E2C1EA3-8288-4F94-B001-372F3A7D32F6}" destId="{7F25F2B8-6654-4A20-AA3E-6EC3BB278DFC}" srcOrd="0" destOrd="0" presId="urn:microsoft.com/office/officeart/2005/8/layout/hierarchy1"/>
    <dgm:cxn modelId="{5812447F-C2A3-4107-8EA7-9652F5959381}" type="presOf" srcId="{60634248-7F7D-467A-9AEF-C8542F4B7064}" destId="{6BC3691F-971B-465C-B5FC-8DD2B973AA32}" srcOrd="0" destOrd="0" presId="urn:microsoft.com/office/officeart/2005/8/layout/hierarchy1"/>
    <dgm:cxn modelId="{F58C1D93-C1D9-4124-8AAC-839AFEAA2479}" srcId="{30C257FC-AC2D-42DE-B4CA-ADCFE174608D}" destId="{A6953038-10D4-4357-B05E-2EE121D6CB7C}" srcOrd="2" destOrd="0" parTransId="{0C7845D7-CD77-4B09-A53C-EBBE59EFABD9}" sibTransId="{EAFC5C42-542E-47FF-88BA-7F566E78B243}"/>
    <dgm:cxn modelId="{9A3528AB-1F63-4032-8867-C63701A29E27}" type="presOf" srcId="{1908FD2C-1F58-49D1-8076-D13F03A5365B}" destId="{1F996D75-F1F6-4201-8CA9-813D5AF2E81E}" srcOrd="0" destOrd="0" presId="urn:microsoft.com/office/officeart/2005/8/layout/hierarchy1"/>
    <dgm:cxn modelId="{BF4656DD-CF0B-4CE5-B5A3-1DC5DD93885A}" type="presOf" srcId="{A6953038-10D4-4357-B05E-2EE121D6CB7C}" destId="{E074A6B9-7454-4E0B-9A56-A4952104A51B}" srcOrd="0" destOrd="0" presId="urn:microsoft.com/office/officeart/2005/8/layout/hierarchy1"/>
    <dgm:cxn modelId="{FA1A4BE0-F06A-4BC3-9010-8B77E3C007D8}" type="presOf" srcId="{0C7845D7-CD77-4B09-A53C-EBBE59EFABD9}" destId="{6004F250-CF3D-4863-B020-52DF3A59CA36}" srcOrd="0" destOrd="0" presId="urn:microsoft.com/office/officeart/2005/8/layout/hierarchy1"/>
    <dgm:cxn modelId="{7C9AF8E5-5CDD-4137-BA97-E2CC80B556DC}" srcId="{30C257FC-AC2D-42DE-B4CA-ADCFE174608D}" destId="{6A349F35-1AB2-4251-AEA2-B15A13A1A050}" srcOrd="3" destOrd="0" parTransId="{1908FD2C-1F58-49D1-8076-D13F03A5365B}" sibTransId="{04B221C2-CDDE-43BF-ACF8-6D009E9D3E04}"/>
    <dgm:cxn modelId="{4A8EB650-8A96-44D6-8058-C5DED5ED25A8}" type="presParOf" srcId="{6BC3691F-971B-465C-B5FC-8DD2B973AA32}" destId="{90526E89-E8BB-4F05-8F10-8DECCB223DB9}" srcOrd="0" destOrd="0" presId="urn:microsoft.com/office/officeart/2005/8/layout/hierarchy1"/>
    <dgm:cxn modelId="{62DDBD77-AD6A-4BB8-99D7-06DF15E0C88A}" type="presParOf" srcId="{90526E89-E8BB-4F05-8F10-8DECCB223DB9}" destId="{474BDD37-466A-4C88-B81C-DE5D95E57948}" srcOrd="0" destOrd="0" presId="urn:microsoft.com/office/officeart/2005/8/layout/hierarchy1"/>
    <dgm:cxn modelId="{E519D46A-C658-44BB-B0EF-4113AE894D48}" type="presParOf" srcId="{474BDD37-466A-4C88-B81C-DE5D95E57948}" destId="{6016D665-917A-443C-ACE0-F1535625033A}" srcOrd="0" destOrd="0" presId="urn:microsoft.com/office/officeart/2005/8/layout/hierarchy1"/>
    <dgm:cxn modelId="{86BA23E8-A856-4CD6-A76D-50498F176CEE}" type="presParOf" srcId="{474BDD37-466A-4C88-B81C-DE5D95E57948}" destId="{1B74D4BE-91CF-43BB-97BB-5F2C50CE7335}" srcOrd="1" destOrd="0" presId="urn:microsoft.com/office/officeart/2005/8/layout/hierarchy1"/>
    <dgm:cxn modelId="{58CEA135-DC2E-4A8C-87C9-CD76922C7433}" type="presParOf" srcId="{90526E89-E8BB-4F05-8F10-8DECCB223DB9}" destId="{65A6FE35-1847-43B7-9CAD-E1CD0D2239FB}" srcOrd="1" destOrd="0" presId="urn:microsoft.com/office/officeart/2005/8/layout/hierarchy1"/>
    <dgm:cxn modelId="{CBA0ED61-B189-43C8-91C1-D88629747374}" type="presParOf" srcId="{65A6FE35-1847-43B7-9CAD-E1CD0D2239FB}" destId="{B63CBC72-8E26-4C80-AA37-BA7CB1364AB5}" srcOrd="0" destOrd="0" presId="urn:microsoft.com/office/officeart/2005/8/layout/hierarchy1"/>
    <dgm:cxn modelId="{8C5C8054-6F1B-4195-87D3-9E256706C040}" type="presParOf" srcId="{65A6FE35-1847-43B7-9CAD-E1CD0D2239FB}" destId="{2D693336-34F6-4177-9B0D-4985671FEDFF}" srcOrd="1" destOrd="0" presId="urn:microsoft.com/office/officeart/2005/8/layout/hierarchy1"/>
    <dgm:cxn modelId="{77C0BCFA-885B-4008-AC43-9DF0AE925403}" type="presParOf" srcId="{2D693336-34F6-4177-9B0D-4985671FEDFF}" destId="{B86E124E-E0DE-4775-9DA5-27A8A750B613}" srcOrd="0" destOrd="0" presId="urn:microsoft.com/office/officeart/2005/8/layout/hierarchy1"/>
    <dgm:cxn modelId="{4EBDF6E9-14A9-4EE6-BF19-B77E3798985C}" type="presParOf" srcId="{B86E124E-E0DE-4775-9DA5-27A8A750B613}" destId="{05927B22-4C16-464D-9FB5-D51B0B962156}" srcOrd="0" destOrd="0" presId="urn:microsoft.com/office/officeart/2005/8/layout/hierarchy1"/>
    <dgm:cxn modelId="{27EFBFDC-E578-42D1-BF76-086243FAF211}" type="presParOf" srcId="{B86E124E-E0DE-4775-9DA5-27A8A750B613}" destId="{FC373F1F-D003-4882-AE7C-18207BCF1AA1}" srcOrd="1" destOrd="0" presId="urn:microsoft.com/office/officeart/2005/8/layout/hierarchy1"/>
    <dgm:cxn modelId="{35B2B9D4-5563-4D3F-BEB2-2E5EC59AE06D}" type="presParOf" srcId="{2D693336-34F6-4177-9B0D-4985671FEDFF}" destId="{D315750F-E888-465A-A577-C6878A1EAAAD}" srcOrd="1" destOrd="0" presId="urn:microsoft.com/office/officeart/2005/8/layout/hierarchy1"/>
    <dgm:cxn modelId="{14A2AE26-8D42-481A-9FA2-42ECFDE5B876}" type="presParOf" srcId="{65A6FE35-1847-43B7-9CAD-E1CD0D2239FB}" destId="{7F25F2B8-6654-4A20-AA3E-6EC3BB278DFC}" srcOrd="2" destOrd="0" presId="urn:microsoft.com/office/officeart/2005/8/layout/hierarchy1"/>
    <dgm:cxn modelId="{9ED1FF76-69FF-4019-8BAE-4F9DFD2196A7}" type="presParOf" srcId="{65A6FE35-1847-43B7-9CAD-E1CD0D2239FB}" destId="{0389BC0B-F955-4B35-8D1C-DCCBD7CEADA7}" srcOrd="3" destOrd="0" presId="urn:microsoft.com/office/officeart/2005/8/layout/hierarchy1"/>
    <dgm:cxn modelId="{D9451348-D3F9-4475-9EFD-18041E9E8931}" type="presParOf" srcId="{0389BC0B-F955-4B35-8D1C-DCCBD7CEADA7}" destId="{D8FD7C7F-FD01-4F5B-BDE4-2482E767449C}" srcOrd="0" destOrd="0" presId="urn:microsoft.com/office/officeart/2005/8/layout/hierarchy1"/>
    <dgm:cxn modelId="{65385EE2-31FC-4506-A2DE-84FFDFEECAA2}" type="presParOf" srcId="{D8FD7C7F-FD01-4F5B-BDE4-2482E767449C}" destId="{2236B402-482C-4BB9-B61C-A4116A8FC098}" srcOrd="0" destOrd="0" presId="urn:microsoft.com/office/officeart/2005/8/layout/hierarchy1"/>
    <dgm:cxn modelId="{CDD40B0C-56BD-458D-ADF9-38D7C002128B}" type="presParOf" srcId="{D8FD7C7F-FD01-4F5B-BDE4-2482E767449C}" destId="{08C68190-A31C-4531-B563-5CCF2C139390}" srcOrd="1" destOrd="0" presId="urn:microsoft.com/office/officeart/2005/8/layout/hierarchy1"/>
    <dgm:cxn modelId="{7D7DEE50-846C-46EE-8CBF-016C863E2B9D}" type="presParOf" srcId="{0389BC0B-F955-4B35-8D1C-DCCBD7CEADA7}" destId="{64A14D01-D2F9-440B-8D84-9DF96749A2D0}" srcOrd="1" destOrd="0" presId="urn:microsoft.com/office/officeart/2005/8/layout/hierarchy1"/>
    <dgm:cxn modelId="{8A79C53C-3D69-4474-8FB5-7CB5CC1CB1A1}" type="presParOf" srcId="{65A6FE35-1847-43B7-9CAD-E1CD0D2239FB}" destId="{6004F250-CF3D-4863-B020-52DF3A59CA36}" srcOrd="4" destOrd="0" presId="urn:microsoft.com/office/officeart/2005/8/layout/hierarchy1"/>
    <dgm:cxn modelId="{21A988EF-9308-47DC-8993-A0582E1CEA42}" type="presParOf" srcId="{65A6FE35-1847-43B7-9CAD-E1CD0D2239FB}" destId="{3044071D-8869-4153-A17F-EEE482972C2E}" srcOrd="5" destOrd="0" presId="urn:microsoft.com/office/officeart/2005/8/layout/hierarchy1"/>
    <dgm:cxn modelId="{19D36FB6-E009-40A0-B41C-B66C69F6809B}" type="presParOf" srcId="{3044071D-8869-4153-A17F-EEE482972C2E}" destId="{B48B6423-5CA3-44FD-97D3-C86D7603ADA4}" srcOrd="0" destOrd="0" presId="urn:microsoft.com/office/officeart/2005/8/layout/hierarchy1"/>
    <dgm:cxn modelId="{BC65435E-1E08-4F53-B380-AC3C83670945}" type="presParOf" srcId="{B48B6423-5CA3-44FD-97D3-C86D7603ADA4}" destId="{10E464DE-8453-4028-B5CA-EEE520F129D5}" srcOrd="0" destOrd="0" presId="urn:microsoft.com/office/officeart/2005/8/layout/hierarchy1"/>
    <dgm:cxn modelId="{21D93331-FED8-4992-932D-76F606B39476}" type="presParOf" srcId="{B48B6423-5CA3-44FD-97D3-C86D7603ADA4}" destId="{E074A6B9-7454-4E0B-9A56-A4952104A51B}" srcOrd="1" destOrd="0" presId="urn:microsoft.com/office/officeart/2005/8/layout/hierarchy1"/>
    <dgm:cxn modelId="{C4FC03EB-81AE-4BC8-9D56-339314778579}" type="presParOf" srcId="{3044071D-8869-4153-A17F-EEE482972C2E}" destId="{FCC91D92-0CC3-4811-AB44-267529D99452}" srcOrd="1" destOrd="0" presId="urn:microsoft.com/office/officeart/2005/8/layout/hierarchy1"/>
    <dgm:cxn modelId="{AD1CB146-2AF7-4618-A140-D736F780303F}" type="presParOf" srcId="{65A6FE35-1847-43B7-9CAD-E1CD0D2239FB}" destId="{1F996D75-F1F6-4201-8CA9-813D5AF2E81E}" srcOrd="6" destOrd="0" presId="urn:microsoft.com/office/officeart/2005/8/layout/hierarchy1"/>
    <dgm:cxn modelId="{1E78B4E5-EDC0-41E4-971D-029C876961EE}" type="presParOf" srcId="{65A6FE35-1847-43B7-9CAD-E1CD0D2239FB}" destId="{1A646B2B-ED50-4AA4-97D6-ADD2749E9849}" srcOrd="7" destOrd="0" presId="urn:microsoft.com/office/officeart/2005/8/layout/hierarchy1"/>
    <dgm:cxn modelId="{DAC9A21F-CE47-4E0B-8A4A-8A9D75A0F70B}" type="presParOf" srcId="{1A646B2B-ED50-4AA4-97D6-ADD2749E9849}" destId="{D1AF03AC-DBE6-41B4-842E-470A5E30819B}" srcOrd="0" destOrd="0" presId="urn:microsoft.com/office/officeart/2005/8/layout/hierarchy1"/>
    <dgm:cxn modelId="{3A04182F-9586-4CC0-8FFE-636176E6F985}" type="presParOf" srcId="{D1AF03AC-DBE6-41B4-842E-470A5E30819B}" destId="{C4C9046B-B6C9-4B7D-981D-7D5FF6643908}" srcOrd="0" destOrd="0" presId="urn:microsoft.com/office/officeart/2005/8/layout/hierarchy1"/>
    <dgm:cxn modelId="{6A6AE480-6AFC-45F2-816C-B95C96D06B72}" type="presParOf" srcId="{D1AF03AC-DBE6-41B4-842E-470A5E30819B}" destId="{7178D2F7-2CEA-41F5-AD85-6A4AFD7837BF}" srcOrd="1" destOrd="0" presId="urn:microsoft.com/office/officeart/2005/8/layout/hierarchy1"/>
    <dgm:cxn modelId="{A79A5D34-7626-4EF5-AAC4-650246234713}" type="presParOf" srcId="{1A646B2B-ED50-4AA4-97D6-ADD2749E9849}" destId="{C66E5081-907E-44F7-82D2-6A01F5AE15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96D75-F1F6-4201-8CA9-813D5AF2E81E}">
      <dsp:nvSpPr>
        <dsp:cNvPr id="0" name=""/>
        <dsp:cNvSpPr/>
      </dsp:nvSpPr>
      <dsp:spPr>
        <a:xfrm>
          <a:off x="5262338" y="1065710"/>
          <a:ext cx="3072050" cy="487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107"/>
              </a:lnTo>
              <a:lnTo>
                <a:pt x="3072050" y="332107"/>
              </a:lnTo>
              <a:lnTo>
                <a:pt x="3072050" y="48733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04F250-CF3D-4863-B020-52DF3A59CA36}">
      <dsp:nvSpPr>
        <dsp:cNvPr id="0" name=""/>
        <dsp:cNvSpPr/>
      </dsp:nvSpPr>
      <dsp:spPr>
        <a:xfrm>
          <a:off x="5262338" y="1065710"/>
          <a:ext cx="1024016" cy="4873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107"/>
              </a:lnTo>
              <a:lnTo>
                <a:pt x="1024016" y="332107"/>
              </a:lnTo>
              <a:lnTo>
                <a:pt x="1024016" y="48733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25F2B8-6654-4A20-AA3E-6EC3BB278DFC}">
      <dsp:nvSpPr>
        <dsp:cNvPr id="0" name=""/>
        <dsp:cNvSpPr/>
      </dsp:nvSpPr>
      <dsp:spPr>
        <a:xfrm>
          <a:off x="4238321" y="1065710"/>
          <a:ext cx="1024016" cy="487338"/>
        </a:xfrm>
        <a:custGeom>
          <a:avLst/>
          <a:gdLst/>
          <a:ahLst/>
          <a:cxnLst/>
          <a:rect l="0" t="0" r="0" b="0"/>
          <a:pathLst>
            <a:path>
              <a:moveTo>
                <a:pt x="1024016" y="0"/>
              </a:moveTo>
              <a:lnTo>
                <a:pt x="1024016" y="332107"/>
              </a:lnTo>
              <a:lnTo>
                <a:pt x="0" y="332107"/>
              </a:lnTo>
              <a:lnTo>
                <a:pt x="0" y="48733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3CBC72-8E26-4C80-AA37-BA7CB1364AB5}">
      <dsp:nvSpPr>
        <dsp:cNvPr id="0" name=""/>
        <dsp:cNvSpPr/>
      </dsp:nvSpPr>
      <dsp:spPr>
        <a:xfrm>
          <a:off x="2190287" y="1065710"/>
          <a:ext cx="3072050" cy="487338"/>
        </a:xfrm>
        <a:custGeom>
          <a:avLst/>
          <a:gdLst/>
          <a:ahLst/>
          <a:cxnLst/>
          <a:rect l="0" t="0" r="0" b="0"/>
          <a:pathLst>
            <a:path>
              <a:moveTo>
                <a:pt x="3072050" y="0"/>
              </a:moveTo>
              <a:lnTo>
                <a:pt x="3072050" y="332107"/>
              </a:lnTo>
              <a:lnTo>
                <a:pt x="0" y="332107"/>
              </a:lnTo>
              <a:lnTo>
                <a:pt x="0" y="48733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16D665-917A-443C-ACE0-F1535625033A}">
      <dsp:nvSpPr>
        <dsp:cNvPr id="0" name=""/>
        <dsp:cNvSpPr/>
      </dsp:nvSpPr>
      <dsp:spPr>
        <a:xfrm>
          <a:off x="4424506" y="1663"/>
          <a:ext cx="1675664" cy="1064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4D4BE-91CF-43BB-97BB-5F2C50CE7335}">
      <dsp:nvSpPr>
        <dsp:cNvPr id="0" name=""/>
        <dsp:cNvSpPr/>
      </dsp:nvSpPr>
      <dsp:spPr>
        <a:xfrm>
          <a:off x="4610691" y="178539"/>
          <a:ext cx="1675664" cy="1064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/>
            <a:t>Les besoins métiers</a:t>
          </a:r>
        </a:p>
      </dsp:txBody>
      <dsp:txXfrm>
        <a:off x="4641856" y="209704"/>
        <a:ext cx="1613334" cy="1001716"/>
      </dsp:txXfrm>
    </dsp:sp>
    <dsp:sp modelId="{05927B22-4C16-464D-9FB5-D51B0B962156}">
      <dsp:nvSpPr>
        <dsp:cNvPr id="0" name=""/>
        <dsp:cNvSpPr/>
      </dsp:nvSpPr>
      <dsp:spPr>
        <a:xfrm>
          <a:off x="1352455" y="1553049"/>
          <a:ext cx="1675664" cy="1064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73F1F-D003-4882-AE7C-18207BCF1AA1}">
      <dsp:nvSpPr>
        <dsp:cNvPr id="0" name=""/>
        <dsp:cNvSpPr/>
      </dsp:nvSpPr>
      <dsp:spPr>
        <a:xfrm>
          <a:off x="1538640" y="1729925"/>
          <a:ext cx="1675664" cy="1064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kern="1200" dirty="0"/>
            <a:t>Amélioration de la conception des avions</a:t>
          </a:r>
        </a:p>
      </dsp:txBody>
      <dsp:txXfrm>
        <a:off x="1569805" y="1761090"/>
        <a:ext cx="1613334" cy="1001716"/>
      </dsp:txXfrm>
    </dsp:sp>
    <dsp:sp modelId="{2236B402-482C-4BB9-B61C-A4116A8FC098}">
      <dsp:nvSpPr>
        <dsp:cNvPr id="0" name=""/>
        <dsp:cNvSpPr/>
      </dsp:nvSpPr>
      <dsp:spPr>
        <a:xfrm>
          <a:off x="3400489" y="1553049"/>
          <a:ext cx="1675664" cy="1064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C68190-A31C-4531-B563-5CCF2C139390}">
      <dsp:nvSpPr>
        <dsp:cNvPr id="0" name=""/>
        <dsp:cNvSpPr/>
      </dsp:nvSpPr>
      <dsp:spPr>
        <a:xfrm>
          <a:off x="3586674" y="1729925"/>
          <a:ext cx="1675664" cy="1064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fr-FR" sz="1600" b="0" kern="1200" dirty="0"/>
            <a:t>Optimisation des performances opérationnelles</a:t>
          </a:r>
        </a:p>
      </dsp:txBody>
      <dsp:txXfrm>
        <a:off x="3617839" y="1761090"/>
        <a:ext cx="1613334" cy="1001716"/>
      </dsp:txXfrm>
    </dsp:sp>
    <dsp:sp modelId="{10E464DE-8453-4028-B5CA-EEE520F129D5}">
      <dsp:nvSpPr>
        <dsp:cNvPr id="0" name=""/>
        <dsp:cNvSpPr/>
      </dsp:nvSpPr>
      <dsp:spPr>
        <a:xfrm>
          <a:off x="5448523" y="1553049"/>
          <a:ext cx="1675664" cy="1064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4A6B9-7454-4E0B-9A56-A4952104A51B}">
      <dsp:nvSpPr>
        <dsp:cNvPr id="0" name=""/>
        <dsp:cNvSpPr/>
      </dsp:nvSpPr>
      <dsp:spPr>
        <a:xfrm>
          <a:off x="5634708" y="1729925"/>
          <a:ext cx="1675664" cy="1064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fr-FR" sz="1600" b="0" kern="1200" dirty="0"/>
            <a:t>Prévision et optimisation de la maintenance</a:t>
          </a:r>
        </a:p>
      </dsp:txBody>
      <dsp:txXfrm>
        <a:off x="5665873" y="1761090"/>
        <a:ext cx="1613334" cy="1001716"/>
      </dsp:txXfrm>
    </dsp:sp>
    <dsp:sp modelId="{C4C9046B-B6C9-4B7D-981D-7D5FF6643908}">
      <dsp:nvSpPr>
        <dsp:cNvPr id="0" name=""/>
        <dsp:cNvSpPr/>
      </dsp:nvSpPr>
      <dsp:spPr>
        <a:xfrm>
          <a:off x="7496557" y="1553049"/>
          <a:ext cx="1675664" cy="1064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78D2F7-2CEA-41F5-AD85-6A4AFD7837BF}">
      <dsp:nvSpPr>
        <dsp:cNvPr id="0" name=""/>
        <dsp:cNvSpPr/>
      </dsp:nvSpPr>
      <dsp:spPr>
        <a:xfrm>
          <a:off x="7682742" y="1729925"/>
          <a:ext cx="1675664" cy="1064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kern="1200" dirty="0"/>
            <a:t>Amélioration de l’expérience client et du support</a:t>
          </a:r>
        </a:p>
      </dsp:txBody>
      <dsp:txXfrm>
        <a:off x="7713907" y="1761090"/>
        <a:ext cx="1613334" cy="1001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12" name="Google Shape;112;g13c28d163b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r>
              <a:rPr lang="fr-FR" dirty="0"/>
              <a:t>W3C un ensemble de spécifications (HTML, CSS, ARIA, WCAG…).</a:t>
            </a:r>
            <a:br>
              <a:rPr lang="fr-FR" dirty="0"/>
            </a:br>
            <a:r>
              <a:rPr lang="fr-FR" dirty="0"/>
              <a:t>Dire « on respecte le W3C » signifie : le code et les pratiques suivent les standards internationaux garantissant compatibilité, accessibilité et pérennité. C’est un référentiel </a:t>
            </a:r>
            <a:r>
              <a:rPr lang="fr-FR" b="1" dirty="0"/>
              <a:t>normatif et technique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référentiel de bonnes pratiques de qualité web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 err="1"/>
              <a:t>oncrètes</a:t>
            </a:r>
            <a:r>
              <a:rPr lang="fr-FR" dirty="0"/>
              <a:t> couvrant accessibilité, utilisabilité, performance, SEO, sécurité, contenus, éco-conception.</a:t>
            </a:r>
            <a:endParaRPr dirty="0"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49030727e_0_0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36" name="Google Shape;136;gf4903072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85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351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27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910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711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6048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15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44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3001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91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425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52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fr-FR" b="1" dirty="0">
                <a:latin typeface="+mn-lt"/>
                <a:ea typeface="Montserrat"/>
                <a:cs typeface="Montserrat"/>
                <a:sym typeface="Montserrat"/>
              </a:rPr>
              <a:t>Cahier des charges</a:t>
            </a:r>
            <a:endParaRPr b="1" dirty="0">
              <a:latin typeface="+mn-l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Élaboration d’un Portfolio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Chef de projet en analyse data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37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idx="1"/>
          </p:nvPr>
        </p:nvSpPr>
        <p:spPr>
          <a:xfrm>
            <a:off x="948275" y="1828800"/>
            <a:ext cx="9392758" cy="3308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6059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résentation du projet</a:t>
            </a:r>
            <a:endParaRPr sz="2460" dirty="0">
              <a:latin typeface="+mn-l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Enjeux et objectifs</a:t>
            </a:r>
            <a:endParaRPr sz="1760" dirty="0">
              <a:latin typeface="+mn-l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Équipe projet</a:t>
            </a:r>
            <a:endParaRPr sz="1760" dirty="0">
              <a:latin typeface="+mn-l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Spécifications ergonomiques</a:t>
            </a:r>
            <a:endParaRPr sz="1760" dirty="0">
              <a:latin typeface="+mn-l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Spécifications fonctionnelles</a:t>
            </a:r>
            <a:endParaRPr sz="1760" dirty="0">
              <a:latin typeface="+mn-l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Spécifications techniques</a:t>
            </a:r>
            <a:endParaRPr sz="1760" dirty="0">
              <a:latin typeface="+mn-l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Contraintes techniques et réglementaires</a:t>
            </a:r>
            <a:endParaRPr sz="1760" dirty="0">
              <a:latin typeface="+mn-l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Qualité et performance</a:t>
            </a:r>
            <a:endParaRPr sz="1760" dirty="0">
              <a:latin typeface="+mn-l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Rétroplanning</a:t>
            </a:r>
            <a:endParaRPr sz="2460" dirty="0">
              <a:latin typeface="+mn-l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+mn-lt"/>
                <a:ea typeface="Montserrat"/>
                <a:cs typeface="Montserrat"/>
                <a:sym typeface="Montserrat"/>
              </a:rPr>
              <a:t>Devis</a:t>
            </a:r>
            <a:endParaRPr sz="2460" dirty="0">
              <a:latin typeface="+mn-l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541" lvl="0">
              <a:lnSpc>
                <a:spcPct val="87000"/>
              </a:lnSpc>
              <a:buSzPts val="1760"/>
            </a:pPr>
            <a:r>
              <a:rPr lang="fr-FR" b="1" dirty="0">
                <a:ea typeface="Montserrat"/>
                <a:cs typeface="Montserrat"/>
                <a:sym typeface="Montserrat"/>
              </a:rPr>
              <a:t>Présentation du projet</a:t>
            </a:r>
            <a:endParaRPr lang="fr-FR" sz="6000" b="1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2400" u="sng" dirty="0">
                <a:ea typeface="Montserrat"/>
                <a:cs typeface="Montserrat"/>
                <a:sym typeface="Montserrat"/>
              </a:rPr>
              <a:t>CONTEXTE</a:t>
            </a:r>
            <a:r>
              <a:rPr lang="fr-FR" sz="2400" dirty="0">
                <a:ea typeface="Montserrat"/>
                <a:cs typeface="Montserrat"/>
                <a:sym typeface="Montserrat"/>
              </a:rPr>
              <a:t> :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fr-FR" sz="2400" dirty="0">
                <a:ea typeface="Montserrat"/>
                <a:cs typeface="Montserrat"/>
                <a:sym typeface="Montserrat"/>
              </a:rPr>
              <a:t>Salarie dans une ESN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fr-FR" sz="2400" dirty="0">
                <a:ea typeface="Montserrat"/>
                <a:cs typeface="Montserrat"/>
                <a:sym typeface="Montserrat"/>
              </a:rPr>
              <a:t>Client  Aéroworld spécialisé en avionique recherche un chef de projet Data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r>
              <a:rPr lang="fr-FR" sz="2400" dirty="0">
                <a:ea typeface="Montserrat"/>
                <a:cs typeface="Montserrat"/>
                <a:sym typeface="Montserrat"/>
              </a:rPr>
              <a:t>Souhaite une démonstration des compétences via un certain nombre de livrables </a:t>
            </a:r>
            <a:endParaRPr lang="fr-FR" sz="1800" dirty="0">
              <a:ea typeface="Montserrat"/>
              <a:cs typeface="Montserrat"/>
              <a:sym typeface="Montserrat"/>
            </a:endParaRPr>
          </a:p>
          <a:p>
            <a:pPr marL="285750" indent="-285750">
              <a:spcBef>
                <a:spcPts val="0"/>
              </a:spcBef>
              <a:buSzPts val="2800"/>
              <a:buFontTx/>
              <a:buChar char="-"/>
            </a:pPr>
            <a:endParaRPr lang="fr-FR" sz="1800" dirty="0"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idx="1"/>
          </p:nvPr>
        </p:nvSpPr>
        <p:spPr>
          <a:xfrm>
            <a:off x="838200" y="4655127"/>
            <a:ext cx="9901844" cy="152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lang="fr-FR" dirty="0">
                <a:ea typeface="Montserrat"/>
                <a:cs typeface="Montserrat"/>
                <a:sym typeface="Montserrat"/>
              </a:rPr>
              <a:t>Raisons du besoin : environnement big data, </a:t>
            </a:r>
            <a:r>
              <a:rPr lang="fr-FR" dirty="0" err="1">
                <a:ea typeface="Montserrat"/>
                <a:cs typeface="Montserrat"/>
                <a:sym typeface="Montserrat"/>
              </a:rPr>
              <a:t>datalake</a:t>
            </a:r>
            <a:endParaRPr lang="fr-FR" dirty="0">
              <a:ea typeface="Montserrat"/>
              <a:cs typeface="Montserrat"/>
              <a:sym typeface="Montserrat"/>
            </a:endParaRPr>
          </a:p>
          <a:p>
            <a:pPr>
              <a:buSzPts val="2800"/>
              <a:buFont typeface="Arial" panose="020B0604020202020204" pitchFamily="34" charset="0"/>
              <a:buChar char="•"/>
            </a:pPr>
            <a:r>
              <a:rPr lang="fr-FR" dirty="0">
                <a:ea typeface="Montserrat"/>
                <a:cs typeface="Montserrat"/>
                <a:sym typeface="Montserrat"/>
              </a:rPr>
              <a:t>Objectifs SMART d’élaboration d’un portfolio : démonstration de compétences et production de livrables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E1DE4B23-211F-A1F8-CDED-7E09777E29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4343680"/>
              </p:ext>
            </p:extLst>
          </p:nvPr>
        </p:nvGraphicFramePr>
        <p:xfrm>
          <a:off x="642938" y="1414463"/>
          <a:ext cx="10710862" cy="2795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sz="6000" b="1" dirty="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sz="6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32EB840-A5A5-FA5C-199F-8CF7CA75C156}"/>
              </a:ext>
            </a:extLst>
          </p:cNvPr>
          <p:cNvSpPr txBox="1"/>
          <p:nvPr/>
        </p:nvSpPr>
        <p:spPr>
          <a:xfrm>
            <a:off x="1240155" y="2456014"/>
            <a:ext cx="9239250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Montserrat"/>
                <a:cs typeface="Montserrat"/>
                <a:sym typeface="Montserrat"/>
              </a:rPr>
              <a:t>Composition de l’équipe projet </a:t>
            </a:r>
          </a:p>
          <a:p>
            <a:endParaRPr lang="fr-F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/>
              <a:t>Commanditaire :  </a:t>
            </a:r>
            <a:r>
              <a:rPr lang="fr-FR" sz="2400" dirty="0" err="1"/>
              <a:t>Aérworld</a:t>
            </a:r>
            <a:r>
              <a:rPr lang="fr-FR" sz="2400" dirty="0"/>
              <a:t> rôle de validation du besoin, arbitrages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400" dirty="0"/>
              <a:t>Chef de projet : </a:t>
            </a:r>
            <a:r>
              <a:rPr lang="fr-FR" sz="2400" dirty="0">
                <a:ea typeface="Montserrat"/>
                <a:cs typeface="Montserrat"/>
                <a:sym typeface="Montserrat"/>
              </a:rPr>
              <a:t>Aurélie CHAMEKH Data Analyst </a:t>
            </a:r>
            <a:r>
              <a:rPr lang="fr-FR" sz="2400" dirty="0"/>
              <a:t>pilotage, planning, suivi des KPI).</a:t>
            </a:r>
          </a:p>
          <a:p>
            <a:endParaRPr lang="fr-FR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+mn-lt"/>
                <a:ea typeface="Montserrat"/>
                <a:cs typeface="Montserrat"/>
                <a:sym typeface="Montserrat"/>
              </a:rPr>
              <a:t>Spécifications ergonomiques</a:t>
            </a:r>
            <a:endParaRPr b="1" dirty="0">
              <a:latin typeface="+mn-l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fr-FR" sz="2400" b="1" dirty="0">
                <a:latin typeface="+mn-lt"/>
              </a:rPr>
              <a:t>Principes ergonomiques du portfolio :</a:t>
            </a:r>
          </a:p>
          <a:p>
            <a:pPr marL="571500" lvl="1" indent="0">
              <a:buNone/>
            </a:pPr>
            <a:r>
              <a:rPr lang="fr-FR" sz="2400" dirty="0">
                <a:latin typeface="+mn-lt"/>
              </a:rPr>
              <a:t>Navigation simple : menu clair (Accueil, À propos, Projets, Contact).</a:t>
            </a:r>
          </a:p>
          <a:p>
            <a:pPr marL="571500" lvl="1" indent="0">
              <a:buNone/>
            </a:pPr>
            <a:r>
              <a:rPr lang="fr-FR" sz="2400" dirty="0">
                <a:latin typeface="+mn-lt"/>
              </a:rPr>
              <a:t>Responsive design (mobile, tablette, desktop).</a:t>
            </a:r>
          </a:p>
          <a:p>
            <a:pPr marL="571500" lvl="1" indent="0">
              <a:buNone/>
            </a:pPr>
            <a:r>
              <a:rPr lang="fr-FR" sz="2400" dirty="0">
                <a:latin typeface="+mn-lt"/>
              </a:rPr>
              <a:t>Lisibilité : contraste suffisant, taille de police adaptée, hiérarchie visuelle claire.</a:t>
            </a:r>
          </a:p>
          <a:p>
            <a:pPr marL="635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sz="2400" b="1" dirty="0">
                <a:latin typeface="+mn-lt"/>
                <a:ea typeface="Montserrat"/>
                <a:cs typeface="Montserrat"/>
                <a:sym typeface="Montserrat"/>
              </a:rPr>
              <a:t>Principes de navigation et UX design</a:t>
            </a:r>
          </a:p>
          <a:p>
            <a:pPr marL="571500" lvl="1" indent="0">
              <a:buNone/>
            </a:pPr>
            <a:r>
              <a:rPr lang="fr-FR" sz="2400" dirty="0">
                <a:latin typeface="+mn-lt"/>
              </a:rPr>
              <a:t>Depuis la page d’accueil, l’utilisateur comprend en 3–5 secondes 3qui tu es et ce que tu fais.3</a:t>
            </a:r>
          </a:p>
          <a:p>
            <a:pPr marL="571500" lvl="1" indent="0">
              <a:buNone/>
            </a:pPr>
            <a:r>
              <a:rPr lang="fr-FR" sz="2400" dirty="0">
                <a:latin typeface="+mn-lt"/>
              </a:rPr>
              <a:t>Accès rapide aux meilleurs projets (vignettes, Appels à l’action (boutons « Me contacter », « Télécharger le CV »).​</a:t>
            </a:r>
          </a:p>
          <a:p>
            <a:pPr marL="228600" lvl="0" indent="-165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•"/>
            </a:pPr>
            <a:endParaRPr sz="24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 txBox="1">
            <a:spLocks noGrp="1"/>
          </p:cNvSpPr>
          <p:nvPr>
            <p:ph idx="1"/>
          </p:nvPr>
        </p:nvSpPr>
        <p:spPr>
          <a:xfrm>
            <a:off x="1097280" y="1845734"/>
            <a:ext cx="5187142" cy="4122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Liste des fonctionnalités qui vont être mises en place </a:t>
            </a:r>
          </a:p>
          <a:p>
            <a:pPr marL="0" indent="0">
              <a:buNone/>
            </a:pPr>
            <a:r>
              <a:rPr lang="fr-FR" sz="1400" dirty="0"/>
              <a:t>Page : Accueil,, Projets (fiches détaillées), Blog (optionnel), Contact.</a:t>
            </a:r>
          </a:p>
          <a:p>
            <a:pPr marL="0" indent="0">
              <a:buNone/>
            </a:pPr>
            <a:r>
              <a:rPr lang="fr-FR" sz="1400" dirty="0"/>
              <a:t>Liste des projets avec lien direct sur </a:t>
            </a:r>
            <a:r>
              <a:rPr lang="fr-FR" sz="1400" dirty="0" err="1"/>
              <a:t>github</a:t>
            </a:r>
            <a:endParaRPr lang="fr-FR" sz="1400" dirty="0"/>
          </a:p>
          <a:p>
            <a:pPr marL="0" indent="0">
              <a:buNone/>
            </a:pPr>
            <a:r>
              <a:rPr lang="fr-FR" sz="1400" dirty="0"/>
              <a:t>Intégration des réseaux : LinkedIn, GitHub, NOTION</a:t>
            </a:r>
          </a:p>
          <a:p>
            <a:pPr marL="0" indent="0">
              <a:buNone/>
            </a:pPr>
            <a:br>
              <a:rPr lang="fr-FR" sz="1400" dirty="0"/>
            </a:br>
            <a:r>
              <a:rPr lang="fr-FR" sz="1400" dirty="0">
                <a:latin typeface="Montserrat"/>
                <a:ea typeface="Montserrat"/>
                <a:cs typeface="Montserrat"/>
                <a:sym typeface="Montserrat"/>
              </a:rPr>
              <a:t>Prise en compte du besoin client et de ses potentielles évolutions</a:t>
            </a:r>
          </a:p>
          <a:p>
            <a:pPr>
              <a:buFontTx/>
              <a:buChar char="-"/>
            </a:pPr>
            <a:r>
              <a:rPr lang="fr-FR" sz="1400" dirty="0">
                <a:latin typeface="Montserrat"/>
                <a:sym typeface="Montserrat"/>
              </a:rPr>
              <a:t>Énumération  des compétences et outils</a:t>
            </a:r>
          </a:p>
          <a:p>
            <a:pPr>
              <a:buFontTx/>
              <a:buChar char="-"/>
            </a:pPr>
            <a:endParaRPr lang="fr-FR" sz="14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2654204-273D-1326-F971-DE6664CF4A0A}"/>
              </a:ext>
            </a:extLst>
          </p:cNvPr>
          <p:cNvSpPr txBox="1"/>
          <p:nvPr/>
        </p:nvSpPr>
        <p:spPr>
          <a:xfrm>
            <a:off x="6616931" y="2011680"/>
            <a:ext cx="51871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SzPts val="1800"/>
            </a:pPr>
            <a:r>
              <a:rPr lang="fr-FR" sz="2000" dirty="0">
                <a:latin typeface="Montserrat"/>
                <a:ea typeface="Montserrat"/>
                <a:cs typeface="Montserrat"/>
                <a:sym typeface="Montserrat"/>
              </a:rPr>
              <a:t>Prise en compte de la législation française et européenne (RGPD)</a:t>
            </a:r>
          </a:p>
          <a:p>
            <a:r>
              <a:rPr lang="fr-FR" sz="2000" dirty="0"/>
              <a:t>Bannière de cookies si tu utilises des outils de </a:t>
            </a:r>
            <a:r>
              <a:rPr lang="fr-FR" sz="2000" dirty="0" err="1"/>
              <a:t>tracking</a:t>
            </a:r>
            <a:r>
              <a:rPr lang="fr-FR" sz="2000" dirty="0"/>
              <a:t> (</a:t>
            </a:r>
            <a:r>
              <a:rPr lang="fr-FR" sz="2000" dirty="0" err="1"/>
              <a:t>analytics</a:t>
            </a:r>
            <a:r>
              <a:rPr lang="fr-FR" sz="2000" dirty="0"/>
              <a:t>, etc.).</a:t>
            </a:r>
          </a:p>
          <a:p>
            <a:r>
              <a:rPr lang="fr-FR" sz="2000" dirty="0"/>
              <a:t>Politique de confidentialité accessible depuis le pied de page.</a:t>
            </a:r>
          </a:p>
          <a:p>
            <a:r>
              <a:rPr lang="fr-FR" sz="2000" dirty="0"/>
              <a:t>Mention légale sur l’usage des données du formulaire de contact, durée de conservation, droits d’accès/suppression</a:t>
            </a:r>
            <a:endParaRPr lang="fr-FR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Contraintes et spécificités techniques et réglementaires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Nom de l'hébergeur et nom de domaine =</a:t>
            </a:r>
          </a:p>
          <a:p>
            <a:pPr marL="6858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Github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Types d'appareils et navigateurs compatibles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Pratiques en sécurité et sauvegarde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Respect du RGPD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Qualité et performance (1)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Contraintes à prendre en compte :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temps ? 3 semaines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budget ? 0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règles fournies par le client ?  Démonstration de compétences, vidéos, documentation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chartes ?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1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demandes particulières ?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Référentiels qualité (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Opquast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, W3C...)  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Modalités de recette</a:t>
            </a:r>
          </a:p>
          <a:p>
            <a:r>
              <a:rPr lang="fr-FR" dirty="0"/>
              <a:t>Recette fonctionnelle : vérification de toutes les fonctionnalités (formulaire, navigation, affichage sur différents appareils).</a:t>
            </a:r>
          </a:p>
          <a:p>
            <a:r>
              <a:rPr lang="fr-FR" dirty="0"/>
              <a:t>Recette technique : tests de performance (vitesse de chargement), tests de sécurité de base, validation RGPD (bandeau cookies, formulaires).</a:t>
            </a:r>
          </a:p>
          <a:p>
            <a:r>
              <a:rPr lang="fr-FR" dirty="0"/>
              <a:t>Validation par le client via un procès‑verbal (PV) de recette ou un mail de validation.</a:t>
            </a: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5"/>
              <a:buFont typeface="Montserrat"/>
              <a:buChar char="•"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Qualité et performance (2)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au 1">
                <a:extLst>
                  <a:ext uri="{FF2B5EF4-FFF2-40B4-BE49-F238E27FC236}">
                    <a16:creationId xmlns:a16="http://schemas.microsoft.com/office/drawing/2014/main" id="{CE96BEC9-A730-9BF3-D255-43C1CFC182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2755045"/>
                  </p:ext>
                </p:extLst>
              </p:nvPr>
            </p:nvGraphicFramePr>
            <p:xfrm>
              <a:off x="1366982" y="2253673"/>
              <a:ext cx="9788698" cy="3676690"/>
            </p:xfrm>
            <a:graphic>
              <a:graphicData uri="http://schemas.openxmlformats.org/drawingml/2006/table">
                <a:tbl>
                  <a:tblPr/>
                  <a:tblGrid>
                    <a:gridCol w="1689715">
                      <a:extLst>
                        <a:ext uri="{9D8B030D-6E8A-4147-A177-3AD203B41FA5}">
                          <a16:colId xmlns:a16="http://schemas.microsoft.com/office/drawing/2014/main" val="3461686418"/>
                        </a:ext>
                      </a:extLst>
                    </a:gridCol>
                    <a:gridCol w="2398619">
                      <a:extLst>
                        <a:ext uri="{9D8B030D-6E8A-4147-A177-3AD203B41FA5}">
                          <a16:colId xmlns:a16="http://schemas.microsoft.com/office/drawing/2014/main" val="2463724464"/>
                        </a:ext>
                      </a:extLst>
                    </a:gridCol>
                    <a:gridCol w="3253189">
                      <a:extLst>
                        <a:ext uri="{9D8B030D-6E8A-4147-A177-3AD203B41FA5}">
                          <a16:colId xmlns:a16="http://schemas.microsoft.com/office/drawing/2014/main" val="2820155608"/>
                        </a:ext>
                      </a:extLst>
                    </a:gridCol>
                    <a:gridCol w="2447175">
                      <a:extLst>
                        <a:ext uri="{9D8B030D-6E8A-4147-A177-3AD203B41FA5}">
                          <a16:colId xmlns:a16="http://schemas.microsoft.com/office/drawing/2014/main" val="3700204658"/>
                        </a:ext>
                      </a:extLst>
                    </a:gridCol>
                  </a:tblGrid>
                  <a:tr h="46055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Catégorie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KPI proposé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Formule / mode de calcul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Objectif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827736"/>
                      </a:ext>
                    </a:extLst>
                  </a:tr>
                  <a:tr h="91530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Coûts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Écart de coût du projet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𝑐𝑜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𝑡𝑟</m:t>
                                    </m:r>
                                    <m:limUpp>
                                      <m:limUpp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lim>
                                        <m:r>
                                          <a:rPr lang="ar-AE" sz="1600" i="0">
                                            <a:latin typeface="Cambria Math" panose="02040503050406030204" pitchFamily="18" charset="0"/>
                                          </a:rPr>
                                          <m:t>ˊ</m:t>
                                        </m:r>
                                      </m:lim>
                                    </m:limUpp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𝑒𝑙</m:t>
                                    </m:r>
                                    <m:r>
                                      <a:rPr lang="ar-AE" sz="16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𝑐𝑜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</m:acc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𝑡𝑝𝑟</m:t>
                                    </m:r>
                                    <m:limUpp>
                                      <m:limUpp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lim>
                                        <m:r>
                                          <a:rPr lang="ar-AE" sz="1600" i="0">
                                            <a:latin typeface="Cambria Math" panose="02040503050406030204" pitchFamily="18" charset="0"/>
                                          </a:rPr>
                                          <m:t>ˊ</m:t>
                                        </m:r>
                                      </m:lim>
                                    </m:limUpp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𝑣𝑖𝑠𝑖𝑜𝑛𝑛𝑒𝑙</m:t>
                                    </m:r>
                                  </m:e>
                                </m:d>
                                <m:r>
                                  <a:rPr lang="ar-AE" sz="1600" i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𝑐𝑜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𝑡𝑝𝑟</m:t>
                                </m:r>
                                <m:limUpp>
                                  <m:limUpp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lim>
                                    <m:r>
                                      <a:rPr lang="ar-AE" sz="1600" i="0">
                                        <a:latin typeface="Cambria Math" panose="02040503050406030204" pitchFamily="18" charset="0"/>
                                      </a:rPr>
                                      <m:t>ˊ</m:t>
                                    </m:r>
                                  </m:lim>
                                </m:limUpp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𝑣𝑖𝑠𝑖𝑜𝑛𝑛𝑒𝑙</m:t>
                                </m:r>
                              </m:oMath>
                            </m:oMathPara>
                          </a14:m>
                          <a:endParaRPr lang="ar-AE" sz="1600" dirty="0">
                            <a:effectLst/>
                          </a:endParaRP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≤ 10% d’écart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6548149"/>
                      </a:ext>
                    </a:extLst>
                  </a:tr>
                  <a:tr h="91530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Délais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Taux de dérive des délais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𝑑𝑢𝑟</m:t>
                                    </m:r>
                                    <m:limUpp>
                                      <m:limUpp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lim>
                                        <m:r>
                                          <a:rPr lang="ar-AE" sz="1600" i="0">
                                            <a:latin typeface="Cambria Math" panose="02040503050406030204" pitchFamily="18" charset="0"/>
                                          </a:rPr>
                                          <m:t>ˊ</m:t>
                                        </m:r>
                                      </m:lim>
                                    </m:limUpp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𝑒𝑟</m:t>
                                    </m:r>
                                    <m:limUpp>
                                      <m:limUpp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lim>
                                        <m:r>
                                          <a:rPr lang="ar-AE" sz="1600" i="0">
                                            <a:latin typeface="Cambria Math" panose="02040503050406030204" pitchFamily="18" charset="0"/>
                                          </a:rPr>
                                          <m:t>ˊ</m:t>
                                        </m:r>
                                      </m:lim>
                                    </m:limUpp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𝑒𝑙𝑙𝑒</m:t>
                                    </m:r>
                                    <m:r>
                                      <a:rPr lang="ar-AE" sz="16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𝑑𝑢𝑟</m:t>
                                    </m:r>
                                    <m:limUpp>
                                      <m:limUpp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lim>
                                        <m:r>
                                          <a:rPr lang="ar-AE" sz="1600" i="0">
                                            <a:latin typeface="Cambria Math" panose="02040503050406030204" pitchFamily="18" charset="0"/>
                                          </a:rPr>
                                          <m:t>ˊ</m:t>
                                        </m:r>
                                      </m:lim>
                                    </m:limUpp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𝑒𝑝𝑟</m:t>
                                    </m:r>
                                    <m:limUpp>
                                      <m:limUppPr>
                                        <m:ctrlP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UppPr>
                                      <m:e>
                                        <m:r>
                                          <a:rPr lang="ar-AE" sz="1600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lim>
                                        <m:r>
                                          <a:rPr lang="ar-AE" sz="1600" i="0">
                                            <a:latin typeface="Cambria Math" panose="02040503050406030204" pitchFamily="18" charset="0"/>
                                          </a:rPr>
                                          <m:t>ˊ</m:t>
                                        </m:r>
                                      </m:lim>
                                    </m:limUpp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𝑣𝑢𝑒</m:t>
                                    </m:r>
                                  </m:e>
                                </m:d>
                                <m:r>
                                  <a:rPr lang="ar-AE" sz="1600" i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𝑑𝑢𝑟</m:t>
                                </m:r>
                                <m:limUpp>
                                  <m:limUpp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lim>
                                    <m:r>
                                      <a:rPr lang="ar-AE" sz="1600" i="0">
                                        <a:latin typeface="Cambria Math" panose="02040503050406030204" pitchFamily="18" charset="0"/>
                                      </a:rPr>
                                      <m:t>ˊ</m:t>
                                    </m:r>
                                  </m:lim>
                                </m:limUpp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𝑒𝑝𝑟</m:t>
                                </m:r>
                                <m:limUpp>
                                  <m:limUppPr>
                                    <m:ctrlP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UppPr>
                                  <m:e>
                                    <m:r>
                                      <a:rPr lang="ar-AE" sz="16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lim>
                                    <m:r>
                                      <a:rPr lang="ar-AE" sz="1600" i="0">
                                        <a:latin typeface="Cambria Math" panose="02040503050406030204" pitchFamily="18" charset="0"/>
                                      </a:rPr>
                                      <m:t>ˊ</m:t>
                                    </m:r>
                                  </m:lim>
                                </m:limUpp>
                                <m:r>
                                  <a:rPr lang="ar-AE" sz="1600" i="1">
                                    <a:latin typeface="Cambria Math" panose="02040503050406030204" pitchFamily="18" charset="0"/>
                                  </a:rPr>
                                  <m:t>𝑣𝑢𝑒</m:t>
                                </m:r>
                              </m:oMath>
                            </m:oMathPara>
                          </a14:m>
                          <a:endParaRPr lang="ar-AE" sz="1600">
                            <a:effectLst/>
                          </a:endParaRP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≤ 10% d’écart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651485"/>
                      </a:ext>
                    </a:extLst>
                  </a:tr>
                  <a:tr h="74545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Qualité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Taux de correction après recette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nombre d’anomalies détectées / nombre total de tests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Diminuer au fil des itérations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0130763"/>
                      </a:ext>
                    </a:extLst>
                  </a:tr>
                  <a:tr h="57480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Efficacité / avancement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Taux d’avancement du projet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tâches réalisées / tâches planifiées (en %)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100% à la date de mise en ligne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96324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au 1">
                <a:extLst>
                  <a:ext uri="{FF2B5EF4-FFF2-40B4-BE49-F238E27FC236}">
                    <a16:creationId xmlns:a16="http://schemas.microsoft.com/office/drawing/2014/main" id="{CE96BEC9-A730-9BF3-D255-43C1CFC182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2755045"/>
                  </p:ext>
                </p:extLst>
              </p:nvPr>
            </p:nvGraphicFramePr>
            <p:xfrm>
              <a:off x="1366982" y="2253673"/>
              <a:ext cx="9788698" cy="3676690"/>
            </p:xfrm>
            <a:graphic>
              <a:graphicData uri="http://schemas.openxmlformats.org/drawingml/2006/table">
                <a:tbl>
                  <a:tblPr/>
                  <a:tblGrid>
                    <a:gridCol w="1689715">
                      <a:extLst>
                        <a:ext uri="{9D8B030D-6E8A-4147-A177-3AD203B41FA5}">
                          <a16:colId xmlns:a16="http://schemas.microsoft.com/office/drawing/2014/main" val="3461686418"/>
                        </a:ext>
                      </a:extLst>
                    </a:gridCol>
                    <a:gridCol w="2398619">
                      <a:extLst>
                        <a:ext uri="{9D8B030D-6E8A-4147-A177-3AD203B41FA5}">
                          <a16:colId xmlns:a16="http://schemas.microsoft.com/office/drawing/2014/main" val="2463724464"/>
                        </a:ext>
                      </a:extLst>
                    </a:gridCol>
                    <a:gridCol w="3253189">
                      <a:extLst>
                        <a:ext uri="{9D8B030D-6E8A-4147-A177-3AD203B41FA5}">
                          <a16:colId xmlns:a16="http://schemas.microsoft.com/office/drawing/2014/main" val="2820155608"/>
                        </a:ext>
                      </a:extLst>
                    </a:gridCol>
                    <a:gridCol w="2447175">
                      <a:extLst>
                        <a:ext uri="{9D8B030D-6E8A-4147-A177-3AD203B41FA5}">
                          <a16:colId xmlns:a16="http://schemas.microsoft.com/office/drawing/2014/main" val="3700204658"/>
                        </a:ext>
                      </a:extLst>
                    </a:gridCol>
                  </a:tblGrid>
                  <a:tr h="46055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Catégorie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KPI proposé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Formule / mode de calcul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Objectif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8827736"/>
                      </a:ext>
                    </a:extLst>
                  </a:tr>
                  <a:tr h="91530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Coûts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Écart de coût du projet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6079" t="-51333" r="-75797" b="-25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≤ 10% d’écart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36548149"/>
                      </a:ext>
                    </a:extLst>
                  </a:tr>
                  <a:tr h="91530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Délais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Taux de dérive des délais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6079" t="-151333" r="-75797" b="-15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≤ 10% d’écart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651485"/>
                      </a:ext>
                    </a:extLst>
                  </a:tr>
                  <a:tr h="74545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Qualité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Taux de correction après recette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nombre d’anomalies détectées / nombre total de tests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Diminuer au fil des itérations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013076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Efficacité / avancement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Taux d’avancement du projet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>
                              <a:effectLst/>
                            </a:rPr>
                            <a:t>tâches réalisées / tâches planifiées (en %)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fr-FR" sz="1600" dirty="0">
                              <a:effectLst/>
                            </a:rPr>
                            <a:t>100% à la date de mise en ligne</a:t>
                          </a:r>
                        </a:p>
                      </a:txBody>
                      <a:tcPr marL="76200" marR="76200" marT="76200" marB="76200" anchor="ctr">
                        <a:lnL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963243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Rétroplanning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synthétique des dates clés du projet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BB66D2E4-58E7-4A8B-4A85-77EDAC5CF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6" y="1526551"/>
            <a:ext cx="10515600" cy="44412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Devis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Liste synthétique et coût des différentes catégories du devis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5080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RH, achats matériels et immatériels ainsi que la marge commerciale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Char char="•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Prix final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r>
              <a:rPr lang="fr-FR" dirty="0"/>
              <a:t>Poste « Conception et UX » : 0</a:t>
            </a:r>
          </a:p>
          <a:p>
            <a:r>
              <a:rPr lang="fr-FR" dirty="0"/>
              <a:t>Poste « Développement / intégration » : 0</a:t>
            </a:r>
          </a:p>
          <a:p>
            <a:r>
              <a:rPr lang="fr-FR" dirty="0"/>
              <a:t>Matériels : 0</a:t>
            </a:r>
          </a:p>
          <a:p>
            <a:r>
              <a:rPr lang="fr-FR" dirty="0"/>
              <a:t>Poste « Recette, corrections, mise en ligne » : 0.</a:t>
            </a:r>
          </a:p>
          <a:p>
            <a:r>
              <a:rPr lang="fr-FR" dirty="0"/>
              <a:t>Coûts récurrents : hébergement, nom de domaine, éventuelles licences</a:t>
            </a:r>
            <a:r>
              <a:rPr lang="fr-FR" dirty="0">
                <a:sym typeface="Wingdings" panose="05000000000000000000" pitchFamily="2" charset="2"/>
              </a:rPr>
              <a:t> solution open source gratuit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236</TotalTime>
  <Words>741</Words>
  <Application>Microsoft Office PowerPoint</Application>
  <PresentationFormat>Grand écran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0" baseType="lpstr">
      <vt:lpstr>Symbol</vt:lpstr>
      <vt:lpstr>Montserrat</vt:lpstr>
      <vt:lpstr>Arial</vt:lpstr>
      <vt:lpstr>Calibri</vt:lpstr>
      <vt:lpstr>Wingdings</vt:lpstr>
      <vt:lpstr>Cambria Math</vt:lpstr>
      <vt:lpstr>Calibri Light</vt:lpstr>
      <vt:lpstr>Rétrospective</vt:lpstr>
      <vt:lpstr>Cahier des charges</vt:lpstr>
      <vt:lpstr>Sommaire</vt:lpstr>
      <vt:lpstr>Présentation du projet</vt:lpstr>
      <vt:lpstr>Enjeux et objectifs</vt:lpstr>
      <vt:lpstr>Équipe projet</vt:lpstr>
      <vt:lpstr>Spécifications ergonomiques</vt:lpstr>
      <vt:lpstr>Spécifications fonctionnelles</vt:lpstr>
      <vt:lpstr>Contraintes et spécificités techniques et réglementaires</vt:lpstr>
      <vt:lpstr>Qualité et performance (1)</vt:lpstr>
      <vt:lpstr>Qualité et performance (2)</vt:lpstr>
      <vt:lpstr>Rétroplanning</vt:lpstr>
      <vt:lpstr>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BADO</dc:creator>
  <cp:lastModifiedBy>Elodie CHAMEKH</cp:lastModifiedBy>
  <cp:revision>9</cp:revision>
  <cp:lastPrinted>2026-02-06T13:54:35Z</cp:lastPrinted>
  <dcterms:modified xsi:type="dcterms:W3CDTF">2026-02-09T15:25:53Z</dcterms:modified>
</cp:coreProperties>
</file>